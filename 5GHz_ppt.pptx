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 ExtraBold"/>
      <p:bold r:id="rId23"/>
      <p:boldItalic r:id="rId24"/>
    </p:embeddedFont>
    <p:embeddedFont>
      <p:font typeface="Roboto"/>
      <p:regular r:id="rId25"/>
      <p:bold r:id="rId26"/>
      <p:italic r:id="rId27"/>
      <p:boldItalic r:id="rId28"/>
    </p:embeddedFont>
    <p:embeddedFont>
      <p:font typeface="Roboto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ExtraBold-boldItalic.fntdata"/><Relationship Id="rId23" Type="http://schemas.openxmlformats.org/officeDocument/2006/relationships/font" Target="fonts/RobotoExtra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SemiBold-italic.fntdata"/><Relationship Id="rId30" Type="http://schemas.openxmlformats.org/officeDocument/2006/relationships/font" Target="fonts/Roboto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Semi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eb58aa129_0_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eb58aa12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eb58aa12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b58aa129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b58aa129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eb58aa129_0_4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eb58aa129_0_1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eb58aa129_0_1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eb58aa129_0_20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eb58aa129_0_1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eb58aa129_0_1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eb58aa129_0_3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eb58aa129_0_3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eb58aa129_0_248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eb58aa129_0_2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eb58aa129_0_2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eb58aa129_0_297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eb58aa129_0_3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eb58aa129_0_3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eb58aa129_0_3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eb58aa129_0_3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eb58aa129_0_3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deb58aa129_0_3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00d0edcb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e00d0edcb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eb58aa129_0_336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deb58aa129_0_350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eb58aa129_6_0)">
  <p:cSld name="Generated (g3deb58aa129_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58aa129_19_0)">
  <p:cSld name="Title and body (g3deb58aa129_19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deb58aa129_19_0) (g3deb58aa129_29_0)">
  <p:cSld name="Title and body (g3deb58aa129_19_0) (g3deb58aa129_29_0)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0.jp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5" Type="http://schemas.openxmlformats.org/officeDocument/2006/relationships/image" Target="../media/image22.png"/><Relationship Id="rId6" Type="http://schemas.openxmlformats.org/officeDocument/2006/relationships/image" Target="../media/image3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5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high-tech, medical visualization of cellular structures and DNA sequences in deep magenta and purple tones, subtle and artistic, minimalist style." id="62" name="Google Shape;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3819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 txBox="1"/>
          <p:nvPr/>
        </p:nvSpPr>
        <p:spPr>
          <a:xfrm>
            <a:off x="571500" y="762000"/>
            <a:ext cx="571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Multimedia Preprocessing and Analysis</a:t>
            </a:r>
            <a:endParaRPr b="0" sz="16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6"/>
          <p:cNvSpPr txBox="1"/>
          <p:nvPr/>
        </p:nvSpPr>
        <p:spPr>
          <a:xfrm>
            <a:off x="571500" y="1333500"/>
            <a:ext cx="6667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57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Breast Cancer Classification using Generative AI for Data Augmentation</a:t>
            </a:r>
            <a:endParaRPr b="0" sz="357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571500" y="3238500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/>
        </p:nvSpPr>
        <p:spPr>
          <a:xfrm>
            <a:off x="571500" y="3524250"/>
            <a:ext cx="381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9A8D4"/>
                </a:solidFill>
                <a:latin typeface="Roboto"/>
                <a:ea typeface="Roboto"/>
                <a:cs typeface="Roboto"/>
                <a:sym typeface="Roboto"/>
              </a:rPr>
              <a:t>Team Members</a:t>
            </a:r>
            <a:endParaRPr b="0" sz="1100">
              <a:solidFill>
                <a:srgbClr val="F9A8D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b="0" lang="en" sz="1400">
                <a:solidFill>
                  <a:srgbClr val="FBCFE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P.L.N. Nikhil</a:t>
            </a:r>
            <a:r>
              <a:rPr b="0" lang="en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(CS23B1038)</a:t>
            </a:r>
            <a:endParaRPr b="0" sz="1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b="0" lang="en" sz="1400">
                <a:solidFill>
                  <a:srgbClr val="FBCFE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G. Hrishik Reddy</a:t>
            </a:r>
            <a:r>
              <a:rPr b="0" lang="en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(CS23B1083)</a:t>
            </a:r>
            <a:endParaRPr b="0" sz="1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b="0" lang="en" sz="1400">
                <a:solidFill>
                  <a:srgbClr val="FBCFE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P. Aditya</a:t>
            </a:r>
            <a:r>
              <a:rPr b="0" lang="en" sz="1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(CS23B1087)</a:t>
            </a:r>
            <a:endParaRPr b="0" sz="1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6667500" y="2857500"/>
            <a:ext cx="2857500" cy="2857500"/>
          </a:xfrm>
          <a:prstGeom prst="ellipse">
            <a:avLst/>
          </a:prstGeom>
          <a:solidFill>
            <a:srgbClr val="F472B6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6"/>
          <p:cNvSpPr/>
          <p:nvPr/>
        </p:nvSpPr>
        <p:spPr>
          <a:xfrm>
            <a:off x="7429500" y="3619500"/>
            <a:ext cx="1905000" cy="1905000"/>
          </a:xfrm>
          <a:prstGeom prst="ellipse">
            <a:avLst/>
          </a:prstGeom>
          <a:solidFill>
            <a:srgbClr val="F472B6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>
            <p:ph type="title"/>
          </p:nvPr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Problem Statement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571500" y="1333500"/>
            <a:ext cx="8001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3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Breast cancer classification using ultrasound images faces several critical challenges:</a:t>
            </a:r>
            <a:endParaRPr b="0" sz="1530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-314960" lvl="0" marL="457200" rtl="0" algn="l">
              <a:spcBef>
                <a:spcPts val="1500"/>
              </a:spcBef>
              <a:spcAft>
                <a:spcPts val="0"/>
              </a:spcAft>
              <a:buClr>
                <a:srgbClr val="FCE7F3"/>
              </a:buClr>
              <a:buSzPts val="1360"/>
              <a:buFont typeface="Roboto"/>
              <a:buChar char="●"/>
            </a:pPr>
            <a:r>
              <a:rPr b="0" lang="en" sz="1360">
                <a:solidFill>
                  <a:srgbClr val="FBCFE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Limited Labeled Data:</a:t>
            </a:r>
            <a:r>
              <a:rPr b="0" lang="en" sz="136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 Availability is restricted due to high annotation costs and privacy constraints.</a:t>
            </a:r>
            <a:endParaRPr b="0" sz="136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960" lvl="0" marL="457200" rtl="0" algn="l">
              <a:spcBef>
                <a:spcPts val="1125"/>
              </a:spcBef>
              <a:spcAft>
                <a:spcPts val="0"/>
              </a:spcAft>
              <a:buClr>
                <a:srgbClr val="FCE7F3"/>
              </a:buClr>
              <a:buSzPts val="1360"/>
              <a:buFont typeface="Roboto"/>
              <a:buChar char="●"/>
            </a:pPr>
            <a:r>
              <a:rPr b="0" lang="en" sz="1360">
                <a:solidFill>
                  <a:srgbClr val="FBCFE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Dataset Imbalance:</a:t>
            </a:r>
            <a:r>
              <a:rPr b="0" lang="en" sz="136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 Significantly fewer malignant cases compared to benign and normal classes leads to biased learning.</a:t>
            </a:r>
            <a:endParaRPr b="0" sz="136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960" lvl="0" marL="457200" rtl="0" algn="l">
              <a:spcBef>
                <a:spcPts val="1125"/>
              </a:spcBef>
              <a:spcAft>
                <a:spcPts val="0"/>
              </a:spcAft>
              <a:buClr>
                <a:srgbClr val="FCE7F3"/>
              </a:buClr>
              <a:buSzPts val="1360"/>
              <a:buFont typeface="Roboto"/>
              <a:buChar char="●"/>
            </a:pPr>
            <a:r>
              <a:rPr b="0" lang="en" sz="1360">
                <a:solidFill>
                  <a:srgbClr val="FBCFE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Clinical Performance Gap:</a:t>
            </a:r>
            <a:r>
              <a:rPr b="0" lang="en" sz="136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 Models may show high overall accuracy but perform poorly on critical malignant cases.</a:t>
            </a:r>
            <a:endParaRPr b="0" sz="136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4960" lvl="0" marL="457200" rtl="0" algn="l">
              <a:spcBef>
                <a:spcPts val="1125"/>
              </a:spcBef>
              <a:spcAft>
                <a:spcPts val="0"/>
              </a:spcAft>
              <a:buClr>
                <a:srgbClr val="FCE7F3"/>
              </a:buClr>
              <a:buSzPts val="1360"/>
              <a:buFont typeface="Roboto"/>
              <a:buChar char="●"/>
            </a:pPr>
            <a:r>
              <a:rPr b="0" lang="en" sz="1360">
                <a:solidFill>
                  <a:srgbClr val="FBCFE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Need for Robust Augmentation:</a:t>
            </a:r>
            <a:r>
              <a:rPr b="0" lang="en" sz="136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 Enhanced techniques are required to improve model generalization and reliability.</a:t>
            </a:r>
            <a:endParaRPr b="0" sz="136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7429500" y="3619500"/>
            <a:ext cx="2286000" cy="2286000"/>
          </a:xfrm>
          <a:prstGeom prst="ellipse">
            <a:avLst/>
          </a:prstGeom>
          <a:solidFill>
            <a:srgbClr val="F472B6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8096250" y="4286250"/>
            <a:ext cx="1524000" cy="1524000"/>
          </a:xfrm>
          <a:prstGeom prst="ellipse">
            <a:avLst/>
          </a:prstGeom>
          <a:solidFill>
            <a:srgbClr val="F472B6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>
            <p:ph type="title"/>
          </p:nvPr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Motivation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86" name="Google Shape;86;p18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571500" y="1333500"/>
            <a:ext cx="8001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Traditional data augmentation (rotation, flipping, scaling) increases dataset size but only creates variations of existing images without new features.</a:t>
            </a:r>
            <a:endParaRPr b="0" sz="15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Generative Models (GANs):</a:t>
            </a:r>
            <a:endParaRPr b="0" sz="1500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Synthesize entirely new images by learning the underlying data distribution, making them ideal for medical imaging where data is scarce and diversity is limited.</a:t>
            </a:r>
            <a:endParaRPr b="0" sz="135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Research Focus:</a:t>
            </a:r>
            <a:endParaRPr b="0" sz="1500">
              <a:solidFill>
                <a:srgbClr val="FFFFFF"/>
              </a:solidFill>
              <a:latin typeface="Roboto SemiBold"/>
              <a:ea typeface="Roboto SemiBold"/>
              <a:cs typeface="Roboto SemiBold"/>
              <a:sym typeface="Roboto SemiBold"/>
            </a:endParaRPr>
          </a:p>
          <a:p>
            <a:pPr indent="0" lvl="0" marL="0" rtl="0" algn="l">
              <a:spcBef>
                <a:spcPts val="1125"/>
              </a:spcBef>
              <a:spcAft>
                <a:spcPts val="1125"/>
              </a:spcAft>
              <a:buNone/>
            </a:pPr>
            <a:r>
              <a:rPr b="0" lang="en" sz="13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To explore whether GAN-based augmentation can significantly improve classification performance in breast cancer diagnostics.</a:t>
            </a:r>
            <a:endParaRPr b="0" sz="135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8"/>
          <p:cNvSpPr/>
          <p:nvPr/>
        </p:nvSpPr>
        <p:spPr>
          <a:xfrm>
            <a:off x="7429500" y="3619500"/>
            <a:ext cx="2286000" cy="2286000"/>
          </a:xfrm>
          <a:prstGeom prst="ellipse">
            <a:avLst/>
          </a:prstGeom>
          <a:solidFill>
            <a:srgbClr val="F472B6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8"/>
          <p:cNvSpPr/>
          <p:nvPr/>
        </p:nvSpPr>
        <p:spPr>
          <a:xfrm>
            <a:off x="8096250" y="4286250"/>
            <a:ext cx="1524000" cy="1524000"/>
          </a:xfrm>
          <a:prstGeom prst="ellipse">
            <a:avLst/>
          </a:prstGeom>
          <a:solidFill>
            <a:srgbClr val="F472B6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Project Objectives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sleek, minimalist digital visualization of an AI neural network processing medical imaging data, with glowing nodes and pink/magenta light trails on a dark background." id="96" name="Google Shape;96;p19"/>
          <p:cNvPicPr preferRelativeResize="0"/>
          <p:nvPr/>
        </p:nvPicPr>
        <p:blipFill rotWithShape="1">
          <a:blip r:embed="rId4">
            <a:alphaModFix/>
          </a:blip>
          <a:srcRect b="0" l="5885" r="5877" t="0"/>
          <a:stretch/>
        </p:blipFill>
        <p:spPr>
          <a:xfrm>
            <a:off x="5715000" y="1333500"/>
            <a:ext cx="2857500" cy="3238500"/>
          </a:xfrm>
          <a:prstGeom prst="roundRect">
            <a:avLst>
              <a:gd fmla="val 6666" name="adj"/>
            </a:avLst>
          </a:prstGeom>
          <a:noFill/>
          <a:ln>
            <a:noFill/>
          </a:ln>
        </p:spPr>
      </p:pic>
      <p:grpSp>
        <p:nvGrpSpPr>
          <p:cNvPr id="97" name="Google Shape;97;p19"/>
          <p:cNvGrpSpPr/>
          <p:nvPr/>
        </p:nvGrpSpPr>
        <p:grpSpPr>
          <a:xfrm>
            <a:off x="571500" y="1333500"/>
            <a:ext cx="4857900" cy="714300"/>
            <a:chOff x="571500" y="1333500"/>
            <a:chExt cx="4857900" cy="714300"/>
          </a:xfrm>
        </p:grpSpPr>
        <p:sp>
          <p:nvSpPr>
            <p:cNvPr id="98" name="Google Shape;98;p19"/>
            <p:cNvSpPr/>
            <p:nvPr/>
          </p:nvSpPr>
          <p:spPr>
            <a:xfrm>
              <a:off x="571500" y="1333500"/>
              <a:ext cx="4857900" cy="714300"/>
            </a:xfrm>
            <a:prstGeom prst="roundRect">
              <a:avLst>
                <a:gd fmla="val 13333" name="adj"/>
              </a:avLst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9"/>
            <p:cNvSpPr txBox="1"/>
            <p:nvPr/>
          </p:nvSpPr>
          <p:spPr>
            <a:xfrm>
              <a:off x="762000" y="1428750"/>
              <a:ext cx="4476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85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Primary Goal</a:t>
              </a:r>
              <a:endParaRPr b="0" sz="108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69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Improve breast cancer classification performance by incorporating generative AI techniques.</a:t>
              </a:r>
              <a:endParaRPr b="0" sz="969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" name="Google Shape;100;p19"/>
          <p:cNvGrpSpPr/>
          <p:nvPr/>
        </p:nvGrpSpPr>
        <p:grpSpPr>
          <a:xfrm>
            <a:off x="571500" y="2143125"/>
            <a:ext cx="2333700" cy="1143000"/>
            <a:chOff x="571500" y="2143125"/>
            <a:chExt cx="2333700" cy="1143000"/>
          </a:xfrm>
        </p:grpSpPr>
        <p:sp>
          <p:nvSpPr>
            <p:cNvPr id="101" name="Google Shape;101;p19"/>
            <p:cNvSpPr/>
            <p:nvPr/>
          </p:nvSpPr>
          <p:spPr>
            <a:xfrm>
              <a:off x="571500" y="2143125"/>
              <a:ext cx="2333700" cy="1143000"/>
            </a:xfrm>
            <a:prstGeom prst="roundRect">
              <a:avLst>
                <a:gd fmla="val 8333" name="adj"/>
              </a:avLst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9"/>
            <p:cNvSpPr txBox="1"/>
            <p:nvPr/>
          </p:nvSpPr>
          <p:spPr>
            <a:xfrm>
              <a:off x="714375" y="2238375"/>
              <a:ext cx="2047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85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Strategy Evaluation</a:t>
              </a:r>
              <a:endParaRPr b="0" sz="108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69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Compare effectiveness of classical vs. GAN-based augmentation strategies.</a:t>
              </a:r>
              <a:endParaRPr b="0" sz="969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3" name="Google Shape;103;p19"/>
          <p:cNvGrpSpPr/>
          <p:nvPr/>
        </p:nvGrpSpPr>
        <p:grpSpPr>
          <a:xfrm>
            <a:off x="3095625" y="2143125"/>
            <a:ext cx="2333700" cy="1143000"/>
            <a:chOff x="3095625" y="2143125"/>
            <a:chExt cx="2333700" cy="1143000"/>
          </a:xfrm>
        </p:grpSpPr>
        <p:sp>
          <p:nvSpPr>
            <p:cNvPr id="104" name="Google Shape;104;p19"/>
            <p:cNvSpPr/>
            <p:nvPr/>
          </p:nvSpPr>
          <p:spPr>
            <a:xfrm>
              <a:off x="3095625" y="2143125"/>
              <a:ext cx="2333700" cy="1143000"/>
            </a:xfrm>
            <a:prstGeom prst="roundRect">
              <a:avLst>
                <a:gd fmla="val 8333" name="adj"/>
              </a:avLst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9"/>
            <p:cNvSpPr txBox="1"/>
            <p:nvPr/>
          </p:nvSpPr>
          <p:spPr>
            <a:xfrm>
              <a:off x="3238500" y="2238375"/>
              <a:ext cx="2047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85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Malignancy Detection</a:t>
              </a:r>
              <a:endParaRPr b="0" sz="108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69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Enhance detection of malignant cases through additional synthetic samples.</a:t>
              </a:r>
              <a:endParaRPr b="0" sz="969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6" name="Google Shape;106;p19"/>
          <p:cNvGrpSpPr/>
          <p:nvPr/>
        </p:nvGrpSpPr>
        <p:grpSpPr>
          <a:xfrm>
            <a:off x="571500" y="3381375"/>
            <a:ext cx="4857900" cy="1190700"/>
            <a:chOff x="571500" y="3381375"/>
            <a:chExt cx="4857900" cy="1190700"/>
          </a:xfrm>
        </p:grpSpPr>
        <p:sp>
          <p:nvSpPr>
            <p:cNvPr id="107" name="Google Shape;107;p19"/>
            <p:cNvSpPr/>
            <p:nvPr/>
          </p:nvSpPr>
          <p:spPr>
            <a:xfrm>
              <a:off x="571500" y="3381375"/>
              <a:ext cx="4857900" cy="1190700"/>
            </a:xfrm>
            <a:prstGeom prst="roundRect">
              <a:avLst>
                <a:gd fmla="val 8000" name="adj"/>
              </a:avLst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9"/>
            <p:cNvSpPr txBox="1"/>
            <p:nvPr/>
          </p:nvSpPr>
          <p:spPr>
            <a:xfrm>
              <a:off x="762000" y="3524250"/>
              <a:ext cx="44769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85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Impact Analysis &amp; Optimization</a:t>
              </a:r>
              <a:endParaRPr b="0" sz="108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969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Analyze synthetic data's effect on model generalization and identify the most effective augmentation approach for diagnostics.</a:t>
              </a:r>
              <a:endParaRPr b="0" sz="969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9" name="Google Shape;109;p19"/>
          <p:cNvSpPr/>
          <p:nvPr/>
        </p:nvSpPr>
        <p:spPr>
          <a:xfrm>
            <a:off x="7429500" y="3619500"/>
            <a:ext cx="2286000" cy="2286000"/>
          </a:xfrm>
          <a:prstGeom prst="ellipse">
            <a:avLst/>
          </a:prstGeom>
          <a:solidFill>
            <a:srgbClr val="F472B6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8096250" y="4286250"/>
            <a:ext cx="1524000" cy="1524000"/>
          </a:xfrm>
          <a:prstGeom prst="ellipse">
            <a:avLst/>
          </a:prstGeom>
          <a:solidFill>
            <a:srgbClr val="F472B6">
              <a:alpha val="8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Dataset Overview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571500" y="1333500"/>
            <a:ext cx="4953000" cy="3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The project utilizes the </a:t>
            </a:r>
            <a:r>
              <a:rPr b="1"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Breast Ultrasound Images (BUSI) dataset</a:t>
            </a:r>
            <a:r>
              <a:rPr b="0" lang="en" sz="15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, featuring ultrasound scans across three distinct categories:</a:t>
            </a:r>
            <a:endParaRPr b="0" sz="15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FCE7F3"/>
              </a:buClr>
              <a:buSzPts val="1500"/>
              <a:buFont typeface="Roboto"/>
              <a:buChar char="●"/>
            </a:pPr>
            <a:r>
              <a:rPr b="1" lang="en" sz="15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rPr>
              <a:t>Normal:</a:t>
            </a:r>
            <a:r>
              <a:rPr b="0" lang="en" sz="15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 Baseline healthy tissue samples.</a:t>
            </a:r>
            <a:endParaRPr b="0" sz="15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Clr>
                <a:srgbClr val="FCE7F3"/>
              </a:buClr>
              <a:buSzPts val="1500"/>
              <a:buFont typeface="Roboto"/>
              <a:buChar char="●"/>
            </a:pPr>
            <a:r>
              <a:rPr b="1" lang="en" sz="15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rPr>
              <a:t>Benign:</a:t>
            </a:r>
            <a:r>
              <a:rPr b="0" lang="en" sz="15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 Non-cancerous growth scans.</a:t>
            </a:r>
            <a:endParaRPr b="0" sz="15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Clr>
                <a:srgbClr val="FCE7F3"/>
              </a:buClr>
              <a:buSzPts val="1500"/>
              <a:buFont typeface="Roboto"/>
              <a:buChar char="●"/>
            </a:pPr>
            <a:r>
              <a:rPr b="1" lang="en" sz="15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rPr>
              <a:t>Malignant:</a:t>
            </a:r>
            <a:r>
              <a:rPr b="0" lang="en" sz="15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 Confirmed cancerous tumor images.</a:t>
            </a:r>
            <a:endParaRPr b="0" sz="15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Includes </a:t>
            </a:r>
            <a:r>
              <a:rPr b="0" lang="en" sz="1500">
                <a:solidFill>
                  <a:srgbClr val="FBCFE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segmentation masks</a:t>
            </a:r>
            <a:r>
              <a:rPr b="0" lang="en" sz="15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 for tumor region highlighting.</a:t>
            </a:r>
            <a:endParaRPr b="0" sz="15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1" lang="en" sz="1300">
                <a:solidFill>
                  <a:srgbClr val="F9A8D4"/>
                </a:solidFill>
                <a:latin typeface="Roboto"/>
                <a:ea typeface="Roboto"/>
                <a:cs typeface="Roboto"/>
                <a:sym typeface="Roboto"/>
              </a:rPr>
              <a:t>Note: Small size and class imbalance make it an ideal testbed for evaluating GAN-based augmentation.</a:t>
            </a:r>
            <a:endParaRPr b="0" i="1" sz="1300">
              <a:solidFill>
                <a:srgbClr val="F9A8D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9" name="Google Shape;119;p20"/>
          <p:cNvGrpSpPr/>
          <p:nvPr/>
        </p:nvGrpSpPr>
        <p:grpSpPr>
          <a:xfrm>
            <a:off x="5900738" y="1328738"/>
            <a:ext cx="2676600" cy="3248100"/>
            <a:chOff x="-4762" y="-4762"/>
            <a:chExt cx="2676600" cy="3248100"/>
          </a:xfrm>
        </p:grpSpPr>
        <p:pic>
          <p:nvPicPr>
            <p:cNvPr descr="A scientific display of ultrasound breast imaging scans arranged in a neat grid, with subtle pink digital overlays indicating tumor segmentation masks, on a dark, professional medical UI background." id="120" name="Google Shape;120;p20"/>
            <p:cNvPicPr preferRelativeResize="0"/>
            <p:nvPr/>
          </p:nvPicPr>
          <p:blipFill rotWithShape="1">
            <a:blip r:embed="rId4">
              <a:alphaModFix/>
            </a:blip>
            <a:srcRect b="4463" l="0" r="0" t="4463"/>
            <a:stretch/>
          </p:blipFill>
          <p:spPr>
            <a:xfrm>
              <a:off x="0" y="0"/>
              <a:ext cx="2667000" cy="3238500"/>
            </a:xfrm>
            <a:prstGeom prst="roundRect">
              <a:avLst>
                <a:gd fmla="val 7142" name="adj"/>
              </a:avLst>
            </a:prstGeom>
            <a:noFill/>
            <a:ln>
              <a:noFill/>
            </a:ln>
          </p:spPr>
        </p:pic>
        <p:pic>
          <p:nvPicPr>
            <p:cNvPr id="121" name="Google Shape;121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4762" y="-4762"/>
              <a:ext cx="2676600" cy="3248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2" name="Google Shape;122;p20"/>
          <p:cNvSpPr/>
          <p:nvPr/>
        </p:nvSpPr>
        <p:spPr>
          <a:xfrm>
            <a:off x="7429500" y="3619500"/>
            <a:ext cx="2286000" cy="2286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0"/>
          <p:cNvSpPr/>
          <p:nvPr/>
        </p:nvSpPr>
        <p:spPr>
          <a:xfrm>
            <a:off x="8096250" y="4286250"/>
            <a:ext cx="1524000" cy="1524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Proposed Approach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571500" y="12382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The proposed approach integrates generative models into the classification pipeline to address data scarcity and improve diagnostic accuracy.</a:t>
            </a:r>
            <a:endParaRPr b="0" sz="11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1" name="Google Shape;131;p21"/>
          <p:cNvGrpSpPr/>
          <p:nvPr/>
        </p:nvGrpSpPr>
        <p:grpSpPr>
          <a:xfrm>
            <a:off x="571500" y="1809750"/>
            <a:ext cx="2476500" cy="1143000"/>
            <a:chOff x="571500" y="1809750"/>
            <a:chExt cx="2476500" cy="1143000"/>
          </a:xfrm>
        </p:grpSpPr>
        <p:sp>
          <p:nvSpPr>
            <p:cNvPr id="132" name="Google Shape;132;p21"/>
            <p:cNvSpPr/>
            <p:nvPr/>
          </p:nvSpPr>
          <p:spPr>
            <a:xfrm>
              <a:off x="571500" y="1809750"/>
              <a:ext cx="2476500" cy="1143000"/>
            </a:xfrm>
            <a:prstGeom prst="roundRect">
              <a:avLst>
                <a:gd fmla="val 10000" name="adj"/>
              </a:avLst>
            </a:prstGeom>
            <a:solidFill>
              <a:srgbClr val="000000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1"/>
            <p:cNvSpPr txBox="1"/>
            <p:nvPr/>
          </p:nvSpPr>
          <p:spPr>
            <a:xfrm>
              <a:off x="714375" y="1905000"/>
              <a:ext cx="2190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STEP 01</a:t>
              </a:r>
              <a:endParaRPr b="0" sz="10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GAN Training</a:t>
              </a:r>
              <a:endParaRPr b="1" sz="13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Preprocessing and training a GAN to learn the distribution of ultrasound images.</a:t>
              </a:r>
              <a:endParaRPr b="0" sz="10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34" name="Google Shape;13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0" y="2371725"/>
            <a:ext cx="1905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21"/>
          <p:cNvGrpSpPr/>
          <p:nvPr/>
        </p:nvGrpSpPr>
        <p:grpSpPr>
          <a:xfrm>
            <a:off x="3333750" y="1809750"/>
            <a:ext cx="2476500" cy="1143000"/>
            <a:chOff x="3333750" y="1809750"/>
            <a:chExt cx="2476500" cy="1143000"/>
          </a:xfrm>
        </p:grpSpPr>
        <p:sp>
          <p:nvSpPr>
            <p:cNvPr id="136" name="Google Shape;136;p21"/>
            <p:cNvSpPr/>
            <p:nvPr/>
          </p:nvSpPr>
          <p:spPr>
            <a:xfrm>
              <a:off x="3333750" y="1809750"/>
              <a:ext cx="2476500" cy="1143000"/>
            </a:xfrm>
            <a:prstGeom prst="roundRect">
              <a:avLst>
                <a:gd fmla="val 10000" name="adj"/>
              </a:avLst>
            </a:prstGeom>
            <a:solidFill>
              <a:srgbClr val="000000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1"/>
            <p:cNvSpPr txBox="1"/>
            <p:nvPr/>
          </p:nvSpPr>
          <p:spPr>
            <a:xfrm>
              <a:off x="3476625" y="1905000"/>
              <a:ext cx="2190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STEP 02</a:t>
              </a:r>
              <a:endParaRPr b="0" sz="10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Data Synthesis</a:t>
              </a:r>
              <a:endParaRPr b="1" sz="13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Producing synthetic images, particularly for underrepresented malignant classes.</a:t>
              </a:r>
              <a:endParaRPr b="0" sz="10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38" name="Google Shape;13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0" y="2371725"/>
            <a:ext cx="190500" cy="1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21"/>
          <p:cNvGrpSpPr/>
          <p:nvPr/>
        </p:nvGrpSpPr>
        <p:grpSpPr>
          <a:xfrm>
            <a:off x="6096000" y="1809750"/>
            <a:ext cx="2476500" cy="1143000"/>
            <a:chOff x="6096000" y="1809750"/>
            <a:chExt cx="2476500" cy="1143000"/>
          </a:xfrm>
        </p:grpSpPr>
        <p:sp>
          <p:nvSpPr>
            <p:cNvPr id="140" name="Google Shape;140;p21"/>
            <p:cNvSpPr/>
            <p:nvPr/>
          </p:nvSpPr>
          <p:spPr>
            <a:xfrm>
              <a:off x="6096000" y="1809750"/>
              <a:ext cx="2476500" cy="1143000"/>
            </a:xfrm>
            <a:prstGeom prst="roundRect">
              <a:avLst>
                <a:gd fmla="val 10000" name="adj"/>
              </a:avLst>
            </a:prstGeom>
            <a:solidFill>
              <a:srgbClr val="000000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1"/>
            <p:cNvSpPr txBox="1"/>
            <p:nvPr/>
          </p:nvSpPr>
          <p:spPr>
            <a:xfrm>
              <a:off x="6238875" y="1905000"/>
              <a:ext cx="2190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STEP 03</a:t>
              </a:r>
              <a:endParaRPr b="0" sz="10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Augmented Dataset</a:t>
              </a:r>
              <a:endParaRPr b="1" sz="13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Combining original and generated images to create a robust training set.</a:t>
              </a:r>
              <a:endParaRPr b="0" sz="10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2" name="Google Shape;142;p21"/>
          <p:cNvGrpSpPr/>
          <p:nvPr/>
        </p:nvGrpSpPr>
        <p:grpSpPr>
          <a:xfrm>
            <a:off x="571500" y="3143250"/>
            <a:ext cx="8001000" cy="952500"/>
            <a:chOff x="571500" y="3143250"/>
            <a:chExt cx="8001000" cy="952500"/>
          </a:xfrm>
        </p:grpSpPr>
        <p:sp>
          <p:nvSpPr>
            <p:cNvPr id="143" name="Google Shape;143;p21"/>
            <p:cNvSpPr/>
            <p:nvPr/>
          </p:nvSpPr>
          <p:spPr>
            <a:xfrm>
              <a:off x="571500" y="3143250"/>
              <a:ext cx="8001000" cy="952500"/>
            </a:xfrm>
            <a:prstGeom prst="roundRect">
              <a:avLst>
                <a:gd fmla="val 12000" name="adj"/>
              </a:avLst>
            </a:prstGeom>
            <a:solidFill>
              <a:srgbClr val="000000">
                <a:alpha val="25000"/>
              </a:srgbClr>
            </a:solidFill>
            <a:ln cap="flat" cmpd="sng" w="9525">
              <a:solidFill>
                <a:srgbClr val="F472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1"/>
            <p:cNvSpPr txBox="1"/>
            <p:nvPr/>
          </p:nvSpPr>
          <p:spPr>
            <a:xfrm>
              <a:off x="762000" y="3238500"/>
              <a:ext cx="7620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FINAL STAGE</a:t>
              </a:r>
              <a:endParaRPr b="0" sz="10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Classification &amp; Evaluation</a:t>
              </a:r>
              <a:endParaRPr b="1" sz="13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A deep learning classifier is trained on the augmented data and evaluated using standard clinical metrics to verify performance improvements.</a:t>
              </a:r>
              <a:endParaRPr b="0" sz="10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45" name="Google Shape;145;p21"/>
          <p:cNvSpPr/>
          <p:nvPr/>
        </p:nvSpPr>
        <p:spPr>
          <a:xfrm>
            <a:off x="7429500" y="3619500"/>
            <a:ext cx="2286000" cy="2286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1"/>
          <p:cNvSpPr/>
          <p:nvPr/>
        </p:nvSpPr>
        <p:spPr>
          <a:xfrm>
            <a:off x="8096250" y="4286250"/>
            <a:ext cx="1524000" cy="1524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2"/>
          <p:cNvGrpSpPr/>
          <p:nvPr/>
        </p:nvGrpSpPr>
        <p:grpSpPr>
          <a:xfrm>
            <a:off x="571500" y="1809750"/>
            <a:ext cx="8191500" cy="2476500"/>
            <a:chOff x="571500" y="1809750"/>
            <a:chExt cx="8191500" cy="2476500"/>
          </a:xfrm>
        </p:grpSpPr>
        <p:grpSp>
          <p:nvGrpSpPr>
            <p:cNvPr id="154" name="Google Shape;154;p22"/>
            <p:cNvGrpSpPr/>
            <p:nvPr/>
          </p:nvGrpSpPr>
          <p:grpSpPr>
            <a:xfrm>
              <a:off x="571500" y="1809750"/>
              <a:ext cx="1905000" cy="2476500"/>
              <a:chOff x="571500" y="1809750"/>
              <a:chExt cx="1905000" cy="2476500"/>
            </a:xfrm>
          </p:grpSpPr>
          <p:sp>
            <p:nvSpPr>
              <p:cNvPr id="155" name="Google Shape;155;p22"/>
              <p:cNvSpPr/>
              <p:nvPr/>
            </p:nvSpPr>
            <p:spPr>
              <a:xfrm>
                <a:off x="571500" y="1809750"/>
                <a:ext cx="1905000" cy="2476500"/>
              </a:xfrm>
              <a:prstGeom prst="roundRect">
                <a:avLst>
                  <a:gd fmla="val 6000" name="adj"/>
                </a:avLst>
              </a:prstGeom>
              <a:solidFill>
                <a:srgbClr val="000000">
                  <a:alpha val="3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22"/>
              <p:cNvSpPr txBox="1"/>
              <p:nvPr/>
            </p:nvSpPr>
            <p:spPr>
              <a:xfrm>
                <a:off x="714375" y="1952625"/>
                <a:ext cx="16191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FBCFE8"/>
                    </a:solidFill>
                    <a:latin typeface="Roboto ExtraBold"/>
                    <a:ea typeface="Roboto ExtraBold"/>
                    <a:cs typeface="Roboto ExtraBold"/>
                    <a:sym typeface="Roboto ExtraBold"/>
                  </a:rPr>
                  <a:t>REGIME 01</a:t>
                </a:r>
                <a:endParaRPr b="0" sz="10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BCFE8"/>
                    </a:solidFill>
                    <a:latin typeface="Roboto"/>
                    <a:ea typeface="Roboto"/>
                    <a:cs typeface="Roboto"/>
                    <a:sym typeface="Roboto"/>
                  </a:rPr>
                  <a:t>Baseline Model</a:t>
                </a:r>
                <a:endParaRPr b="1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050">
                    <a:solidFill>
                      <a:srgbClr val="FCE7F3"/>
                    </a:solidFill>
                    <a:latin typeface="Roboto"/>
                    <a:ea typeface="Roboto"/>
                    <a:cs typeface="Roboto"/>
                    <a:sym typeface="Roboto"/>
                  </a:rPr>
                  <a:t>The control group where the model is trained without any augmentation techniques.</a:t>
                </a:r>
                <a:endParaRPr b="0"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57" name="Google Shape;157;p22"/>
            <p:cNvGrpSpPr/>
            <p:nvPr/>
          </p:nvGrpSpPr>
          <p:grpSpPr>
            <a:xfrm>
              <a:off x="2667000" y="1809750"/>
              <a:ext cx="1905000" cy="2476500"/>
              <a:chOff x="2667000" y="1809750"/>
              <a:chExt cx="1905000" cy="2476500"/>
            </a:xfrm>
          </p:grpSpPr>
          <p:sp>
            <p:nvSpPr>
              <p:cNvPr id="158" name="Google Shape;158;p22"/>
              <p:cNvSpPr/>
              <p:nvPr/>
            </p:nvSpPr>
            <p:spPr>
              <a:xfrm>
                <a:off x="2667000" y="1809750"/>
                <a:ext cx="1905000" cy="2476500"/>
              </a:xfrm>
              <a:prstGeom prst="roundRect">
                <a:avLst>
                  <a:gd fmla="val 6000" name="adj"/>
                </a:avLst>
              </a:prstGeom>
              <a:solidFill>
                <a:srgbClr val="000000">
                  <a:alpha val="3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22"/>
              <p:cNvSpPr txBox="1"/>
              <p:nvPr/>
            </p:nvSpPr>
            <p:spPr>
              <a:xfrm>
                <a:off x="2809875" y="1952625"/>
                <a:ext cx="16191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60" name="Google Shape;160;p22"/>
            <p:cNvGrpSpPr/>
            <p:nvPr/>
          </p:nvGrpSpPr>
          <p:grpSpPr>
            <a:xfrm>
              <a:off x="4762500" y="1809750"/>
              <a:ext cx="1905000" cy="2476500"/>
              <a:chOff x="4762500" y="1809750"/>
              <a:chExt cx="1905000" cy="2476500"/>
            </a:xfrm>
          </p:grpSpPr>
          <p:sp>
            <p:nvSpPr>
              <p:cNvPr id="161" name="Google Shape;161;p22"/>
              <p:cNvSpPr/>
              <p:nvPr/>
            </p:nvSpPr>
            <p:spPr>
              <a:xfrm>
                <a:off x="4762500" y="1809750"/>
                <a:ext cx="1905000" cy="2476500"/>
              </a:xfrm>
              <a:prstGeom prst="roundRect">
                <a:avLst>
                  <a:gd fmla="val 6000" name="adj"/>
                </a:avLst>
              </a:prstGeom>
              <a:solidFill>
                <a:srgbClr val="000000">
                  <a:alpha val="3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22"/>
              <p:cNvSpPr txBox="1"/>
              <p:nvPr/>
            </p:nvSpPr>
            <p:spPr>
              <a:xfrm>
                <a:off x="4905375" y="1952625"/>
                <a:ext cx="16191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000">
                    <a:solidFill>
                      <a:srgbClr val="FBCFE8"/>
                    </a:solidFill>
                    <a:latin typeface="Roboto ExtraBold"/>
                    <a:ea typeface="Roboto ExtraBold"/>
                    <a:cs typeface="Roboto ExtraBold"/>
                    <a:sym typeface="Roboto ExtraBold"/>
                  </a:rPr>
                  <a:t>REGIME 03</a:t>
                </a:r>
                <a:endParaRPr sz="10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300">
                    <a:solidFill>
                      <a:srgbClr val="FBCFE8"/>
                    </a:solidFill>
                    <a:latin typeface="Roboto"/>
                    <a:ea typeface="Roboto"/>
                    <a:cs typeface="Roboto"/>
                    <a:sym typeface="Roboto"/>
                  </a:rPr>
                  <a:t>WGAN-GP</a:t>
                </a:r>
                <a:endParaRPr b="1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050">
                    <a:solidFill>
                      <a:srgbClr val="FCE7F3"/>
                    </a:solidFill>
                    <a:latin typeface="Roboto"/>
                    <a:ea typeface="Roboto"/>
                    <a:cs typeface="Roboto"/>
                    <a:sym typeface="Roboto"/>
                  </a:rPr>
                  <a:t>Incorporates GAN-based augmentation using Wasserstein GAN with Gradient Penalty.</a:t>
                </a:r>
                <a:endParaRPr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grpSp>
          <p:nvGrpSpPr>
            <p:cNvPr id="163" name="Google Shape;163;p22"/>
            <p:cNvGrpSpPr/>
            <p:nvPr/>
          </p:nvGrpSpPr>
          <p:grpSpPr>
            <a:xfrm>
              <a:off x="6858000" y="1809750"/>
              <a:ext cx="1905000" cy="2476500"/>
              <a:chOff x="6858000" y="1809750"/>
              <a:chExt cx="1905000" cy="2476500"/>
            </a:xfrm>
          </p:grpSpPr>
          <p:sp>
            <p:nvSpPr>
              <p:cNvPr id="164" name="Google Shape;164;p22"/>
              <p:cNvSpPr/>
              <p:nvPr/>
            </p:nvSpPr>
            <p:spPr>
              <a:xfrm>
                <a:off x="6858000" y="1809750"/>
                <a:ext cx="1905000" cy="2476500"/>
              </a:xfrm>
              <a:prstGeom prst="roundRect">
                <a:avLst>
                  <a:gd fmla="val 6000" name="adj"/>
                </a:avLst>
              </a:prstGeom>
              <a:solidFill>
                <a:srgbClr val="000000">
                  <a:alpha val="30000"/>
                </a:srgbClr>
              </a:solidFill>
              <a:ln cap="flat" cmpd="sng" w="9525">
                <a:solidFill>
                  <a:srgbClr val="F472B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22"/>
              <p:cNvSpPr txBox="1"/>
              <p:nvPr/>
            </p:nvSpPr>
            <p:spPr>
              <a:xfrm>
                <a:off x="7000875" y="1952625"/>
                <a:ext cx="16191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000">
                    <a:solidFill>
                      <a:srgbClr val="F472B6"/>
                    </a:solidFill>
                    <a:latin typeface="Roboto ExtraBold"/>
                    <a:ea typeface="Roboto ExtraBold"/>
                    <a:cs typeface="Roboto ExtraBold"/>
                    <a:sym typeface="Roboto ExtraBold"/>
                  </a:rPr>
                  <a:t>REGIME 04</a:t>
                </a:r>
                <a:endParaRPr sz="1000">
                  <a:solidFill>
                    <a:srgbClr val="F472B6"/>
                  </a:solidFill>
                  <a:latin typeface="Roboto ExtraBold"/>
                  <a:ea typeface="Roboto ExtraBold"/>
                  <a:cs typeface="Roboto ExtraBold"/>
                  <a:sym typeface="Roboto ExtraBold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" sz="1300">
                    <a:solidFill>
                      <a:srgbClr val="FBCFE8"/>
                    </a:solidFill>
                    <a:latin typeface="Roboto"/>
                    <a:ea typeface="Roboto"/>
                    <a:cs typeface="Roboto"/>
                    <a:sym typeface="Roboto"/>
                  </a:rPr>
                  <a:t>Mask-Aware GAN</a:t>
                </a:r>
                <a:endParaRPr b="1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 sz="1050">
                    <a:solidFill>
                      <a:srgbClr val="FCE7F3"/>
                    </a:solidFill>
                    <a:latin typeface="Roboto"/>
                    <a:ea typeface="Roboto"/>
                    <a:cs typeface="Roboto"/>
                    <a:sym typeface="Roboto"/>
                  </a:rPr>
                  <a:t>Utilizes segmentation masks to improve the realism and anatomical accuracy of generated images.</a:t>
                </a:r>
                <a:endParaRPr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66" name="Google Shape;166;p22"/>
          <p:cNvSpPr/>
          <p:nvPr/>
        </p:nvSpPr>
        <p:spPr>
          <a:xfrm>
            <a:off x="7429500" y="3619500"/>
            <a:ext cx="2286000" cy="2286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2"/>
          <p:cNvSpPr txBox="1"/>
          <p:nvPr/>
        </p:nvSpPr>
        <p:spPr>
          <a:xfrm>
            <a:off x="571500" y="44767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F9A8D4"/>
                </a:solidFill>
                <a:latin typeface="Roboto"/>
                <a:ea typeface="Roboto"/>
                <a:cs typeface="Roboto"/>
                <a:sym typeface="Roboto"/>
              </a:rPr>
              <a:t>This structured comparison allows for a comprehensive evaluation of each approach.</a:t>
            </a:r>
            <a:endParaRPr i="1" sz="1100">
              <a:solidFill>
                <a:srgbClr val="F9A8D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2"/>
          <p:cNvSpPr/>
          <p:nvPr/>
        </p:nvSpPr>
        <p:spPr>
          <a:xfrm>
            <a:off x="8096250" y="4286250"/>
            <a:ext cx="1524000" cy="1524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Methodology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571500" y="1238250"/>
            <a:ext cx="8001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To systematically evaluate the effectiveness of different augmentation strategies, an ablation study was conducted with four experimental regimes.</a:t>
            </a:r>
            <a:endParaRPr b="0" sz="11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2809875" y="2047875"/>
            <a:ext cx="16191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REGIME 02</a:t>
            </a:r>
            <a:endParaRPr b="0" sz="1000">
              <a:solidFill>
                <a:srgbClr val="FBCFE8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rPr>
              <a:t>Classical</a:t>
            </a:r>
            <a:endParaRPr b="1" sz="1300">
              <a:solidFill>
                <a:srgbClr val="FBCFE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0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Standard geometric variations including horizontal flipping and rotation.</a:t>
            </a:r>
            <a:endParaRPr b="0" sz="105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3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GAN Architecture: WGAN-GP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571500" y="12382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WGAN-GP improves training stability by minimizing the Wasserstein distance and enforcing Lipschitz continuity via gradient penalty.</a:t>
            </a:r>
            <a:endParaRPr b="0" sz="11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0" name="Google Shape;180;p23"/>
          <p:cNvGrpSpPr/>
          <p:nvPr/>
        </p:nvGrpSpPr>
        <p:grpSpPr>
          <a:xfrm>
            <a:off x="571500" y="1809750"/>
            <a:ext cx="3905400" cy="1285800"/>
            <a:chOff x="571500" y="1809750"/>
            <a:chExt cx="3905400" cy="1285800"/>
          </a:xfrm>
        </p:grpSpPr>
        <p:sp>
          <p:nvSpPr>
            <p:cNvPr id="181" name="Google Shape;181;p23"/>
            <p:cNvSpPr/>
            <p:nvPr/>
          </p:nvSpPr>
          <p:spPr>
            <a:xfrm>
              <a:off x="571500" y="1809750"/>
              <a:ext cx="3905400" cy="1285800"/>
            </a:xfrm>
            <a:prstGeom prst="roundRect">
              <a:avLst>
                <a:gd fmla="val 8888" name="adj"/>
              </a:avLst>
            </a:prstGeom>
            <a:solidFill>
              <a:srgbClr val="000000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3"/>
            <p:cNvSpPr txBox="1"/>
            <p:nvPr/>
          </p:nvSpPr>
          <p:spPr>
            <a:xfrm>
              <a:off x="762000" y="1905000"/>
              <a:ext cx="3524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CORE MECHANISM</a:t>
              </a:r>
              <a:endParaRPr b="0" sz="10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Wasserstein Distance</a:t>
              </a:r>
              <a:endParaRPr b="1" sz="13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Instead of minimizing divergence, it minimizes the distance between distributions for smoother gradients.</a:t>
              </a:r>
              <a:endParaRPr b="0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3" name="Google Shape;183;p23"/>
          <p:cNvGrpSpPr/>
          <p:nvPr/>
        </p:nvGrpSpPr>
        <p:grpSpPr>
          <a:xfrm>
            <a:off x="571500" y="3238500"/>
            <a:ext cx="3905400" cy="1285800"/>
            <a:chOff x="571500" y="3238500"/>
            <a:chExt cx="3905400" cy="1285800"/>
          </a:xfrm>
        </p:grpSpPr>
        <p:sp>
          <p:nvSpPr>
            <p:cNvPr id="184" name="Google Shape;184;p23"/>
            <p:cNvSpPr/>
            <p:nvPr/>
          </p:nvSpPr>
          <p:spPr>
            <a:xfrm>
              <a:off x="571500" y="3238500"/>
              <a:ext cx="3905400" cy="1285800"/>
            </a:xfrm>
            <a:prstGeom prst="roundRect">
              <a:avLst>
                <a:gd fmla="val 8888" name="adj"/>
              </a:avLst>
            </a:prstGeom>
            <a:solidFill>
              <a:srgbClr val="000000">
                <a:alpha val="25000"/>
              </a:srgbClr>
            </a:solidFill>
            <a:ln cap="flat" cmpd="sng" w="9525">
              <a:solidFill>
                <a:srgbClr val="F472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3"/>
            <p:cNvSpPr txBox="1"/>
            <p:nvPr/>
          </p:nvSpPr>
          <p:spPr>
            <a:xfrm>
              <a:off x="762000" y="3333750"/>
              <a:ext cx="3524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STABILITY FEATURE</a:t>
              </a:r>
              <a:endParaRPr b="0" sz="10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Gradient Penalty</a:t>
              </a:r>
              <a:endParaRPr b="1" sz="13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Introduces a penalty term to enforce Lipschitz continuity, ensuring stable and reliable training cycles.</a:t>
              </a:r>
              <a:endParaRPr b="0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6" name="Google Shape;186;p23"/>
          <p:cNvGrpSpPr/>
          <p:nvPr/>
        </p:nvGrpSpPr>
        <p:grpSpPr>
          <a:xfrm>
            <a:off x="4667250" y="1809750"/>
            <a:ext cx="3905400" cy="1285800"/>
            <a:chOff x="4667250" y="1809750"/>
            <a:chExt cx="3905400" cy="1285800"/>
          </a:xfrm>
        </p:grpSpPr>
        <p:sp>
          <p:nvSpPr>
            <p:cNvPr id="187" name="Google Shape;187;p23"/>
            <p:cNvSpPr/>
            <p:nvPr/>
          </p:nvSpPr>
          <p:spPr>
            <a:xfrm>
              <a:off x="4667250" y="1809750"/>
              <a:ext cx="3905400" cy="1285800"/>
            </a:xfrm>
            <a:prstGeom prst="roundRect">
              <a:avLst>
                <a:gd fmla="val 8888" name="adj"/>
              </a:avLst>
            </a:prstGeom>
            <a:solidFill>
              <a:srgbClr val="000000">
                <a:alpha val="2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3"/>
            <p:cNvSpPr txBox="1"/>
            <p:nvPr/>
          </p:nvSpPr>
          <p:spPr>
            <a:xfrm>
              <a:off x="4857750" y="1905000"/>
              <a:ext cx="35244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NETWORK COMPONENTS</a:t>
              </a:r>
              <a:endParaRPr b="0" sz="10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Generator vs. Discriminator (Critic)</a:t>
              </a:r>
              <a:endParaRPr b="1" sz="13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The generator produces synthetic images while the critic evaluates authenticity to guide learning.</a:t>
              </a:r>
              <a:endParaRPr b="0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4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Mask-Aware GAN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 txBox="1"/>
          <p:nvPr/>
        </p:nvSpPr>
        <p:spPr>
          <a:xfrm>
            <a:off x="571500" y="12382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To further enhance the quality of generated images, a mask-aware GAN approach utilizes segmentation masks to guide the generation process.</a:t>
            </a:r>
            <a:endParaRPr b="0" sz="11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97" name="Google Shape;197;p24"/>
          <p:cNvGrpSpPr/>
          <p:nvPr/>
        </p:nvGrpSpPr>
        <p:grpSpPr>
          <a:xfrm>
            <a:off x="571500" y="1809750"/>
            <a:ext cx="8001000" cy="857400"/>
            <a:chOff x="571500" y="1809750"/>
            <a:chExt cx="8001000" cy="857400"/>
          </a:xfrm>
        </p:grpSpPr>
        <p:sp>
          <p:nvSpPr>
            <p:cNvPr id="198" name="Google Shape;198;p24"/>
            <p:cNvSpPr/>
            <p:nvPr/>
          </p:nvSpPr>
          <p:spPr>
            <a:xfrm>
              <a:off x="571500" y="1809750"/>
              <a:ext cx="8001000" cy="857400"/>
            </a:xfrm>
            <a:prstGeom prst="roundRect">
              <a:avLst>
                <a:gd fmla="val 13333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4"/>
            <p:cNvSpPr txBox="1"/>
            <p:nvPr/>
          </p:nvSpPr>
          <p:spPr>
            <a:xfrm>
              <a:off x="762000" y="1905000"/>
              <a:ext cx="7620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CORE INNOVATION</a:t>
              </a:r>
              <a:endParaRPr b="0" sz="97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8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Anatomical Guidance</a:t>
              </a:r>
              <a:endParaRPr b="0" sz="97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4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Incorporates anatomical information so the generator focuses on realistic tumor structures and spatial consistency.</a:t>
              </a:r>
              <a:endParaRPr b="0" sz="97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grpSp>
        <p:nvGrpSpPr>
          <p:cNvPr id="200" name="Google Shape;200;p24"/>
          <p:cNvGrpSpPr/>
          <p:nvPr/>
        </p:nvGrpSpPr>
        <p:grpSpPr>
          <a:xfrm>
            <a:off x="571500" y="2809875"/>
            <a:ext cx="8001000" cy="857400"/>
            <a:chOff x="571500" y="2809875"/>
            <a:chExt cx="8001000" cy="857400"/>
          </a:xfrm>
        </p:grpSpPr>
        <p:sp>
          <p:nvSpPr>
            <p:cNvPr id="201" name="Google Shape;201;p24"/>
            <p:cNvSpPr/>
            <p:nvPr/>
          </p:nvSpPr>
          <p:spPr>
            <a:xfrm>
              <a:off x="571500" y="2809875"/>
              <a:ext cx="8001000" cy="857400"/>
            </a:xfrm>
            <a:prstGeom prst="roundRect">
              <a:avLst>
                <a:gd fmla="val 13333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4"/>
            <p:cNvSpPr txBox="1"/>
            <p:nvPr/>
          </p:nvSpPr>
          <p:spPr>
            <a:xfrm>
              <a:off x="762000" y="2905125"/>
              <a:ext cx="7620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OBJECTIVE</a:t>
              </a:r>
              <a:endParaRPr b="0" sz="97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8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Clinical Relevance</a:t>
              </a:r>
              <a:endParaRPr b="0" sz="97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4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Aims to address limitations of standard GANs by preventing the creation of medically inaccurate samples.</a:t>
              </a:r>
              <a:endParaRPr b="0" sz="97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grpSp>
        <p:nvGrpSpPr>
          <p:cNvPr id="203" name="Google Shape;203;p24"/>
          <p:cNvGrpSpPr/>
          <p:nvPr/>
        </p:nvGrpSpPr>
        <p:grpSpPr>
          <a:xfrm>
            <a:off x="571500" y="3810000"/>
            <a:ext cx="8001000" cy="714300"/>
            <a:chOff x="571500" y="3810000"/>
            <a:chExt cx="8001000" cy="714300"/>
          </a:xfrm>
        </p:grpSpPr>
        <p:sp>
          <p:nvSpPr>
            <p:cNvPr id="204" name="Google Shape;204;p24"/>
            <p:cNvSpPr/>
            <p:nvPr/>
          </p:nvSpPr>
          <p:spPr>
            <a:xfrm>
              <a:off x="571500" y="3810000"/>
              <a:ext cx="8001000" cy="714300"/>
            </a:xfrm>
            <a:prstGeom prst="roundRect">
              <a:avLst>
                <a:gd fmla="val 15999" name="adj"/>
              </a:avLst>
            </a:prstGeom>
            <a:solidFill>
              <a:srgbClr val="000000">
                <a:alpha val="30000"/>
              </a:srgbClr>
            </a:solidFill>
            <a:ln cap="flat" cmpd="sng" w="9525">
              <a:solidFill>
                <a:srgbClr val="F472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4"/>
            <p:cNvSpPr txBox="1"/>
            <p:nvPr/>
          </p:nvSpPr>
          <p:spPr>
            <a:xfrm>
              <a:off x="762000" y="3905250"/>
              <a:ext cx="76200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DATASET SYNERGY</a:t>
              </a:r>
              <a:endParaRPr b="0" sz="97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8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Segmentation Masks</a:t>
              </a:r>
              <a:endParaRPr b="0" sz="97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4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Directly leverages existing BUSI dataset masks as a spatial prior for synthetic image synthesis.</a:t>
              </a:r>
              <a:endParaRPr b="0" sz="975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</p:txBody>
        </p:sp>
      </p:grpSp>
      <p:sp>
        <p:nvSpPr>
          <p:cNvPr id="206" name="Google Shape;206;p24"/>
          <p:cNvSpPr/>
          <p:nvPr/>
        </p:nvSpPr>
        <p:spPr>
          <a:xfrm>
            <a:off x="7429500" y="3619500"/>
            <a:ext cx="2286000" cy="2286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4"/>
          <p:cNvSpPr/>
          <p:nvPr/>
        </p:nvSpPr>
        <p:spPr>
          <a:xfrm>
            <a:off x="8096250" y="4286250"/>
            <a:ext cx="1524000" cy="1524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5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Training Strategy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15" name="Google Shape;215;p25"/>
          <p:cNvSpPr txBox="1"/>
          <p:nvPr/>
        </p:nvSpPr>
        <p:spPr>
          <a:xfrm>
            <a:off x="571500" y="123825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The training process balances adversarial optimization with Transfer Learning to ensure robust performance on medical imaging tasks.</a:t>
            </a:r>
            <a:endParaRPr b="0" sz="11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16" name="Google Shape;216;p25"/>
          <p:cNvGrpSpPr/>
          <p:nvPr/>
        </p:nvGrpSpPr>
        <p:grpSpPr>
          <a:xfrm>
            <a:off x="571500" y="1809750"/>
            <a:ext cx="2286000" cy="1285800"/>
            <a:chOff x="571500" y="1809750"/>
            <a:chExt cx="2286000" cy="1285800"/>
          </a:xfrm>
        </p:grpSpPr>
        <p:pic>
          <p:nvPicPr>
            <p:cNvPr id="217" name="Google Shape;21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1809750"/>
              <a:ext cx="22860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25"/>
            <p:cNvSpPr txBox="1"/>
            <p:nvPr/>
          </p:nvSpPr>
          <p:spPr>
            <a:xfrm>
              <a:off x="714375" y="1905000"/>
              <a:ext cx="20001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OPTIMIZATION</a:t>
              </a:r>
              <a:endParaRPr b="0" sz="8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Adam &amp; Hyperparams</a:t>
              </a:r>
              <a:endParaRPr b="1" sz="13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Uses the Adam optimizer with fine-tuned parameters for both generator and discriminator networks.</a:t>
              </a:r>
              <a:endParaRPr b="0" sz="10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19" name="Google Shape;219;p25"/>
          <p:cNvGrpSpPr/>
          <p:nvPr/>
        </p:nvGrpSpPr>
        <p:grpSpPr>
          <a:xfrm>
            <a:off x="3048000" y="1809750"/>
            <a:ext cx="2286000" cy="1285800"/>
            <a:chOff x="3048000" y="1809750"/>
            <a:chExt cx="2286000" cy="1285800"/>
          </a:xfrm>
        </p:grpSpPr>
        <p:pic>
          <p:nvPicPr>
            <p:cNvPr id="220" name="Google Shape;220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48000" y="1809750"/>
              <a:ext cx="22860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25"/>
            <p:cNvSpPr txBox="1"/>
            <p:nvPr/>
          </p:nvSpPr>
          <p:spPr>
            <a:xfrm>
              <a:off x="3190875" y="1905000"/>
              <a:ext cx="20001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STABILIZATION</a:t>
              </a:r>
              <a:endParaRPr b="0" sz="8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Label Smoothing</a:t>
              </a:r>
              <a:endParaRPr b="1" sz="13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Applied to prevent discriminator overconfidence and stabilize the competitive GAN training loop.</a:t>
              </a:r>
              <a:endParaRPr b="0" sz="10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2" name="Google Shape;222;p25"/>
          <p:cNvGrpSpPr/>
          <p:nvPr/>
        </p:nvGrpSpPr>
        <p:grpSpPr>
          <a:xfrm>
            <a:off x="571500" y="3238500"/>
            <a:ext cx="2286000" cy="1285800"/>
            <a:chOff x="571500" y="3238500"/>
            <a:chExt cx="2286000" cy="1285800"/>
          </a:xfrm>
        </p:grpSpPr>
        <p:pic>
          <p:nvPicPr>
            <p:cNvPr id="223" name="Google Shape;223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1500" y="3238500"/>
              <a:ext cx="22860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25"/>
            <p:cNvSpPr txBox="1"/>
            <p:nvPr/>
          </p:nvSpPr>
          <p:spPr>
            <a:xfrm>
              <a:off x="714375" y="3333750"/>
              <a:ext cx="20001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REGULARIZATION</a:t>
              </a:r>
              <a:endParaRPr b="0" sz="8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Convergence Control</a:t>
              </a:r>
              <a:endParaRPr b="1" sz="13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Learning rate scheduling and early stopping prevent overfitting and ensure optimal convergence.</a:t>
              </a:r>
              <a:endParaRPr b="0" sz="10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5" name="Google Shape;225;p25"/>
          <p:cNvGrpSpPr/>
          <p:nvPr/>
        </p:nvGrpSpPr>
        <p:grpSpPr>
          <a:xfrm>
            <a:off x="3043238" y="3233738"/>
            <a:ext cx="2295600" cy="1295400"/>
            <a:chOff x="3043238" y="3233738"/>
            <a:chExt cx="2295600" cy="1295400"/>
          </a:xfrm>
        </p:grpSpPr>
        <p:pic>
          <p:nvPicPr>
            <p:cNvPr id="226" name="Google Shape;226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43238" y="3233738"/>
              <a:ext cx="2295600" cy="12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" name="Google Shape;227;p25"/>
            <p:cNvSpPr txBox="1"/>
            <p:nvPr/>
          </p:nvSpPr>
          <p:spPr>
            <a:xfrm>
              <a:off x="3190875" y="3333750"/>
              <a:ext cx="20001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CLASSIFICATION</a:t>
              </a:r>
              <a:endParaRPr b="0" sz="80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ResNet Fine-Tuning</a:t>
              </a:r>
              <a:endParaRPr b="1" sz="13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Leverages a pretrained ResNet via transfer learning to maximize performance on limited BUSI data.</a:t>
              </a:r>
              <a:endParaRPr b="0" sz="10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descr="A high-tech medical data visualization showing neural network nodes and glowing synapses in pink and white against a dark blue background. Professional, clean, and clinical aesthetic." id="228" name="Google Shape;228;p25"/>
          <p:cNvPicPr preferRelativeResize="0"/>
          <p:nvPr/>
        </p:nvPicPr>
        <p:blipFill rotWithShape="1">
          <a:blip r:embed="rId6">
            <a:alphaModFix/>
          </a:blip>
          <a:srcRect b="2777" l="0" r="0" t="2777"/>
          <a:stretch/>
        </p:blipFill>
        <p:spPr>
          <a:xfrm>
            <a:off x="5524500" y="1428750"/>
            <a:ext cx="3429000" cy="3238500"/>
          </a:xfrm>
          <a:prstGeom prst="roundRect">
            <a:avLst>
              <a:gd fmla="val 588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6"/>
          <p:cNvSpPr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Generated Images Analysis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6"/>
          <p:cNvSpPr txBox="1"/>
          <p:nvPr/>
        </p:nvSpPr>
        <p:spPr>
          <a:xfrm>
            <a:off x="571500" y="1238250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Comparative analysis shows significant quality improvements through advanced GAN architectures while noting existing clinical limitations.</a:t>
            </a:r>
            <a:endParaRPr b="0" sz="11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38" name="Google Shape;238;p26"/>
          <p:cNvGrpSpPr/>
          <p:nvPr/>
        </p:nvGrpSpPr>
        <p:grpSpPr>
          <a:xfrm>
            <a:off x="571500" y="1809750"/>
            <a:ext cx="2286000" cy="1285800"/>
            <a:chOff x="0" y="0"/>
            <a:chExt cx="2286000" cy="1285800"/>
          </a:xfrm>
        </p:grpSpPr>
        <p:sp>
          <p:nvSpPr>
            <p:cNvPr id="239" name="Google Shape;239;p26"/>
            <p:cNvSpPr/>
            <p:nvPr/>
          </p:nvSpPr>
          <p:spPr>
            <a:xfrm>
              <a:off x="0" y="0"/>
              <a:ext cx="2286000" cy="1285800"/>
            </a:xfrm>
            <a:prstGeom prst="roundRect">
              <a:avLst>
                <a:gd fmla="val 8888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6"/>
            <p:cNvSpPr txBox="1"/>
            <p:nvPr/>
          </p:nvSpPr>
          <p:spPr>
            <a:xfrm>
              <a:off x="142875" y="95250"/>
              <a:ext cx="20001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EVOLUTION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Baseline vs. WGAN-GP</a:t>
              </a:r>
              <a:endParaRPr b="1" sz="1203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Initial outputs are noisy; WGAN-GP provides crucial stability and texture improvements.</a:t>
              </a:r>
              <a:endParaRPr b="0" sz="971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1" name="Google Shape;241;p26"/>
          <p:cNvGrpSpPr/>
          <p:nvPr/>
        </p:nvGrpSpPr>
        <p:grpSpPr>
          <a:xfrm>
            <a:off x="3048000" y="1809750"/>
            <a:ext cx="2286000" cy="1285800"/>
            <a:chOff x="0" y="0"/>
            <a:chExt cx="2286000" cy="1285800"/>
          </a:xfrm>
        </p:grpSpPr>
        <p:sp>
          <p:nvSpPr>
            <p:cNvPr id="242" name="Google Shape;242;p26"/>
            <p:cNvSpPr/>
            <p:nvPr/>
          </p:nvSpPr>
          <p:spPr>
            <a:xfrm>
              <a:off x="0" y="0"/>
              <a:ext cx="2286000" cy="1285800"/>
            </a:xfrm>
            <a:prstGeom prst="roundRect">
              <a:avLst>
                <a:gd fmla="val 8888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6"/>
            <p:cNvSpPr txBox="1"/>
            <p:nvPr/>
          </p:nvSpPr>
          <p:spPr>
            <a:xfrm>
              <a:off x="142875" y="95250"/>
              <a:ext cx="20001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PRECISION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Mask-Aware Enhancements</a:t>
              </a:r>
              <a:endParaRPr b="1" sz="1203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Preserves critical anatomical features by leveraging spatial priors for higher quality.</a:t>
              </a:r>
              <a:endParaRPr b="0" sz="971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44" name="Google Shape;244;p26"/>
          <p:cNvGrpSpPr/>
          <p:nvPr/>
        </p:nvGrpSpPr>
        <p:grpSpPr>
          <a:xfrm>
            <a:off x="571500" y="3238500"/>
            <a:ext cx="4762500" cy="1285800"/>
            <a:chOff x="0" y="0"/>
            <a:chExt cx="4762500" cy="1285800"/>
          </a:xfrm>
        </p:grpSpPr>
        <p:sp>
          <p:nvSpPr>
            <p:cNvPr id="245" name="Google Shape;245;p26"/>
            <p:cNvSpPr/>
            <p:nvPr/>
          </p:nvSpPr>
          <p:spPr>
            <a:xfrm>
              <a:off x="0" y="0"/>
              <a:ext cx="4762500" cy="1285800"/>
            </a:xfrm>
            <a:prstGeom prst="roundRect">
              <a:avLst>
                <a:gd fmla="val 8888" name="adj"/>
              </a:avLst>
            </a:prstGeom>
            <a:solidFill>
              <a:srgbClr val="000000">
                <a:alpha val="30000"/>
              </a:srgbClr>
            </a:solidFill>
            <a:ln cap="flat" cmpd="sng" w="9525">
              <a:solidFill>
                <a:srgbClr val="F472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6"/>
            <p:cNvSpPr txBox="1"/>
            <p:nvPr/>
          </p:nvSpPr>
          <p:spPr>
            <a:xfrm>
              <a:off x="142875" y="95250"/>
              <a:ext cx="44769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OUTLOOK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203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Clinical Impact &amp; Limitations</a:t>
              </a:r>
              <a:endParaRPr b="1" sz="1203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971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While fine-grained details may still lack, synthetic images effectively increase dataset diversity and model robustness.</a:t>
              </a:r>
              <a:endParaRPr b="0" sz="971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7" name="Google Shape;247;p26"/>
          <p:cNvSpPr/>
          <p:nvPr/>
        </p:nvSpPr>
        <p:spPr>
          <a:xfrm>
            <a:off x="7429500" y="3619500"/>
            <a:ext cx="2286000" cy="2286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6"/>
          <p:cNvSpPr/>
          <p:nvPr/>
        </p:nvSpPr>
        <p:spPr>
          <a:xfrm>
            <a:off x="8096250" y="4286250"/>
            <a:ext cx="1524000" cy="1524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4458" y="1238250"/>
            <a:ext cx="3320367" cy="32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7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7"/>
          <p:cNvSpPr txBox="1"/>
          <p:nvPr/>
        </p:nvSpPr>
        <p:spPr>
          <a:xfrm>
            <a:off x="571500" y="260975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Results: Classification Performance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571575" y="4620875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Mask-aware GANs provide the most promising improvements in metrics, though challenges in malignant recall persist.</a:t>
            </a:r>
            <a:endParaRPr b="0" sz="11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8" name="Google Shape;258;p27"/>
          <p:cNvGrpSpPr/>
          <p:nvPr/>
        </p:nvGrpSpPr>
        <p:grpSpPr>
          <a:xfrm>
            <a:off x="571425" y="3191313"/>
            <a:ext cx="2571900" cy="1285800"/>
            <a:chOff x="571500" y="1809750"/>
            <a:chExt cx="2571900" cy="1285800"/>
          </a:xfrm>
        </p:grpSpPr>
        <p:sp>
          <p:nvSpPr>
            <p:cNvPr id="259" name="Google Shape;259;p27"/>
            <p:cNvSpPr/>
            <p:nvPr/>
          </p:nvSpPr>
          <p:spPr>
            <a:xfrm>
              <a:off x="571500" y="1809750"/>
              <a:ext cx="2571900" cy="1285800"/>
            </a:xfrm>
            <a:prstGeom prst="roundRect">
              <a:avLst>
                <a:gd fmla="val 8888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7"/>
            <p:cNvSpPr txBox="1"/>
            <p:nvPr/>
          </p:nvSpPr>
          <p:spPr>
            <a:xfrm>
              <a:off x="714375" y="1905000"/>
              <a:ext cx="2286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AUGMENTATION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Classical vs. Baseline</a:t>
              </a:r>
              <a:endParaRPr b="1" sz="12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Standard augmentation techniques show a clear performance boost over the baseline control group.</a:t>
              </a:r>
              <a:endParaRPr b="0" sz="97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1" name="Google Shape;261;p27"/>
          <p:cNvGrpSpPr/>
          <p:nvPr/>
        </p:nvGrpSpPr>
        <p:grpSpPr>
          <a:xfrm>
            <a:off x="3286050" y="3191313"/>
            <a:ext cx="2571900" cy="1285800"/>
            <a:chOff x="3286125" y="1809750"/>
            <a:chExt cx="2571900" cy="1285800"/>
          </a:xfrm>
        </p:grpSpPr>
        <p:sp>
          <p:nvSpPr>
            <p:cNvPr id="262" name="Google Shape;262;p27"/>
            <p:cNvSpPr/>
            <p:nvPr/>
          </p:nvSpPr>
          <p:spPr>
            <a:xfrm>
              <a:off x="3286125" y="1809750"/>
              <a:ext cx="2571900" cy="1285800"/>
            </a:xfrm>
            <a:prstGeom prst="roundRect">
              <a:avLst>
                <a:gd fmla="val 8888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 txBox="1"/>
            <p:nvPr/>
          </p:nvSpPr>
          <p:spPr>
            <a:xfrm>
              <a:off x="3429000" y="1905000"/>
              <a:ext cx="2286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DIVERSITY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WGAN-GP Impact</a:t>
              </a:r>
              <a:endParaRPr b="1" sz="12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WGAN-GP enhances results in specific cases by significantly increasing training data diversity.</a:t>
              </a:r>
              <a:endParaRPr b="0" sz="97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64" name="Google Shape;264;p27"/>
          <p:cNvGrpSpPr/>
          <p:nvPr/>
        </p:nvGrpSpPr>
        <p:grpSpPr>
          <a:xfrm>
            <a:off x="6000675" y="3191313"/>
            <a:ext cx="2571900" cy="1285800"/>
            <a:chOff x="6000750" y="1809750"/>
            <a:chExt cx="2571900" cy="1285800"/>
          </a:xfrm>
        </p:grpSpPr>
        <p:sp>
          <p:nvSpPr>
            <p:cNvPr id="265" name="Google Shape;265;p27"/>
            <p:cNvSpPr/>
            <p:nvPr/>
          </p:nvSpPr>
          <p:spPr>
            <a:xfrm>
              <a:off x="6000750" y="1809750"/>
              <a:ext cx="2571900" cy="1285800"/>
            </a:xfrm>
            <a:prstGeom prst="roundRect">
              <a:avLst>
                <a:gd fmla="val 8888" name="adj"/>
              </a:avLst>
            </a:prstGeom>
            <a:solidFill>
              <a:srgbClr val="000000">
                <a:alpha val="30000"/>
              </a:srgbClr>
            </a:solidFill>
            <a:ln cap="flat" cmpd="sng" w="9525">
              <a:solidFill>
                <a:srgbClr val="F472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7"/>
            <p:cNvSpPr txBox="1"/>
            <p:nvPr/>
          </p:nvSpPr>
          <p:spPr>
            <a:xfrm>
              <a:off x="6143625" y="1905000"/>
              <a:ext cx="2286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SUPERIORITY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Mask-Aware Synthesis</a:t>
              </a:r>
              <a:endParaRPr b="1" sz="12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Demonstrates the most structured imaging and improved classification metrics across all regimes.</a:t>
              </a:r>
              <a:endParaRPr b="0" sz="97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67" name="Google Shape;26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425" y="832475"/>
            <a:ext cx="6065075" cy="21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850" y="217950"/>
            <a:ext cx="3478249" cy="462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2525" y="217950"/>
            <a:ext cx="3315146" cy="46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0249" y="267013"/>
            <a:ext cx="3356624" cy="460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9075" y="267025"/>
            <a:ext cx="3356625" cy="4605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Contribution of Team Members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287" name="Google Shape;287;p30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0"/>
          <p:cNvSpPr txBox="1"/>
          <p:nvPr/>
        </p:nvSpPr>
        <p:spPr>
          <a:xfrm>
            <a:off x="571500" y="12382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Each member contributed specialized technical expertise to bridge generative AI with medical diagnostics.</a:t>
            </a:r>
            <a:endParaRPr b="0" sz="11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89" name="Google Shape;289;p30"/>
          <p:cNvGrpSpPr/>
          <p:nvPr/>
        </p:nvGrpSpPr>
        <p:grpSpPr>
          <a:xfrm>
            <a:off x="571500" y="1857375"/>
            <a:ext cx="2571900" cy="2667000"/>
            <a:chOff x="571500" y="1857375"/>
            <a:chExt cx="2571900" cy="2667000"/>
          </a:xfrm>
        </p:grpSpPr>
        <p:sp>
          <p:nvSpPr>
            <p:cNvPr id="290" name="Google Shape;290;p30"/>
            <p:cNvSpPr/>
            <p:nvPr/>
          </p:nvSpPr>
          <p:spPr>
            <a:xfrm>
              <a:off x="571500" y="1857375"/>
              <a:ext cx="2571900" cy="2667000"/>
            </a:xfrm>
            <a:prstGeom prst="roundRect">
              <a:avLst>
                <a:gd fmla="val 4444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0"/>
            <p:cNvSpPr txBox="1"/>
            <p:nvPr/>
          </p:nvSpPr>
          <p:spPr>
            <a:xfrm>
              <a:off x="714375" y="2000250"/>
              <a:ext cx="22860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DATA &amp; BASELINE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Hrishik (CS23B1083)</a:t>
              </a:r>
              <a:endParaRPr b="1" sz="12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Led data preprocessing and dataset management. Designed the custom dataset class and applied transformations. Implemented the ResNet-based baseline model and integrated classical augmentation (flipping/rotation) to boost initial performance.</a:t>
              </a:r>
              <a:endParaRPr b="0" sz="9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2" name="Google Shape;292;p30"/>
          <p:cNvGrpSpPr/>
          <p:nvPr/>
        </p:nvGrpSpPr>
        <p:grpSpPr>
          <a:xfrm>
            <a:off x="3286125" y="1857375"/>
            <a:ext cx="2571900" cy="2667000"/>
            <a:chOff x="3286125" y="1857375"/>
            <a:chExt cx="2571900" cy="2667000"/>
          </a:xfrm>
        </p:grpSpPr>
        <p:sp>
          <p:nvSpPr>
            <p:cNvPr id="293" name="Google Shape;293;p30"/>
            <p:cNvSpPr/>
            <p:nvPr/>
          </p:nvSpPr>
          <p:spPr>
            <a:xfrm>
              <a:off x="3286125" y="1857375"/>
              <a:ext cx="2571900" cy="2667000"/>
            </a:xfrm>
            <a:prstGeom prst="roundRect">
              <a:avLst>
                <a:gd fmla="val 4444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0"/>
            <p:cNvSpPr txBox="1"/>
            <p:nvPr/>
          </p:nvSpPr>
          <p:spPr>
            <a:xfrm>
              <a:off x="3429000" y="2000250"/>
              <a:ext cx="22860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GENERATIVE MODELING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Aditya (CS23B1087)</a:t>
              </a:r>
              <a:endParaRPr b="1" sz="12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Implemented the WGAN-GP architecture, including generator and critic networks. Developed the training procedure using Wasserstein loss with gradient penalty. Focused on generating synthetic malignant samples to address critical dataset imbalance.</a:t>
              </a:r>
              <a:endParaRPr b="0" sz="9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95" name="Google Shape;295;p30"/>
          <p:cNvGrpSpPr/>
          <p:nvPr/>
        </p:nvGrpSpPr>
        <p:grpSpPr>
          <a:xfrm>
            <a:off x="6000750" y="1857375"/>
            <a:ext cx="2571900" cy="2667000"/>
            <a:chOff x="6000750" y="1857375"/>
            <a:chExt cx="2571900" cy="2667000"/>
          </a:xfrm>
        </p:grpSpPr>
        <p:sp>
          <p:nvSpPr>
            <p:cNvPr id="296" name="Google Shape;296;p30"/>
            <p:cNvSpPr/>
            <p:nvPr/>
          </p:nvSpPr>
          <p:spPr>
            <a:xfrm>
              <a:off x="6000750" y="1857375"/>
              <a:ext cx="2571900" cy="2667000"/>
            </a:xfrm>
            <a:prstGeom prst="roundRect">
              <a:avLst>
                <a:gd fmla="val 4444" name="adj"/>
              </a:avLst>
            </a:prstGeom>
            <a:solidFill>
              <a:srgbClr val="000000">
                <a:alpha val="30000"/>
              </a:srgbClr>
            </a:solidFill>
            <a:ln cap="flat" cmpd="sng" w="9525">
              <a:solidFill>
                <a:srgbClr val="F472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0"/>
            <p:cNvSpPr txBox="1"/>
            <p:nvPr/>
          </p:nvSpPr>
          <p:spPr>
            <a:xfrm>
              <a:off x="6143625" y="2000250"/>
              <a:ext cx="22860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REFINEMENT &amp; EVAL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Nikhil (CS23B1038)</a:t>
              </a:r>
              <a:endParaRPr b="1" sz="12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Developed the mask-aware GAN to enhance image realism. Retrained classification models on the hybrid augmented dataset. Conducted performance evaluation (Accuracy, FID, etc.) and utilized Grad-CAM for model interpretability.</a:t>
              </a:r>
              <a:endParaRPr b="0" sz="95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98" name="Google Shape;2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1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Key Insights: GAN-Based Augmentation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1"/>
          <p:cNvSpPr txBox="1"/>
          <p:nvPr/>
        </p:nvSpPr>
        <p:spPr>
          <a:xfrm>
            <a:off x="571500" y="12382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Effectiveness depends heavily on image realism; quantity alone does not guarantee performance gains. Combining generative models with domain-specific information is crucial for success.</a:t>
            </a:r>
            <a:endParaRPr b="0" sz="11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6" name="Google Shape;306;p31"/>
          <p:cNvGrpSpPr/>
          <p:nvPr/>
        </p:nvGrpSpPr>
        <p:grpSpPr>
          <a:xfrm>
            <a:off x="571500" y="1857375"/>
            <a:ext cx="3905400" cy="1333500"/>
            <a:chOff x="571500" y="1857375"/>
            <a:chExt cx="3905400" cy="1333500"/>
          </a:xfrm>
        </p:grpSpPr>
        <p:sp>
          <p:nvSpPr>
            <p:cNvPr id="307" name="Google Shape;307;p31"/>
            <p:cNvSpPr/>
            <p:nvPr/>
          </p:nvSpPr>
          <p:spPr>
            <a:xfrm>
              <a:off x="571500" y="1857375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31"/>
            <p:cNvSpPr txBox="1"/>
            <p:nvPr/>
          </p:nvSpPr>
          <p:spPr>
            <a:xfrm>
              <a:off x="714375" y="1952625"/>
              <a:ext cx="3619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DATA FIDELITY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Quality vs. Quantity</a:t>
              </a:r>
              <a:endParaRPr b="1" sz="12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Study results reveal that the study's effectiveness relies on the quality and realism of generated images. Simply increasing data volume without realism fails to improve metrics.</a:t>
              </a:r>
              <a:endParaRPr b="0" sz="97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09" name="Google Shape;309;p31"/>
          <p:cNvGrpSpPr/>
          <p:nvPr/>
        </p:nvGrpSpPr>
        <p:grpSpPr>
          <a:xfrm>
            <a:off x="4667250" y="1857375"/>
            <a:ext cx="3905400" cy="1333500"/>
            <a:chOff x="4667250" y="1857375"/>
            <a:chExt cx="3905400" cy="1333500"/>
          </a:xfrm>
        </p:grpSpPr>
        <p:sp>
          <p:nvSpPr>
            <p:cNvPr id="310" name="Google Shape;310;p31"/>
            <p:cNvSpPr/>
            <p:nvPr/>
          </p:nvSpPr>
          <p:spPr>
            <a:xfrm>
              <a:off x="4667250" y="1857375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31"/>
            <p:cNvSpPr txBox="1"/>
            <p:nvPr/>
          </p:nvSpPr>
          <p:spPr>
            <a:xfrm>
              <a:off x="4810125" y="1952625"/>
              <a:ext cx="3619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HYBRID STRATEGY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Classical Baselines</a:t>
              </a:r>
              <a:endParaRPr b="1" sz="12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Classical augmentation remains a strong baseline and should be utilized alongside generative methods for optimal performance.</a:t>
              </a:r>
              <a:endParaRPr b="0" sz="97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12" name="Google Shape;312;p31"/>
          <p:cNvGrpSpPr/>
          <p:nvPr/>
        </p:nvGrpSpPr>
        <p:grpSpPr>
          <a:xfrm>
            <a:off x="571500" y="3381375"/>
            <a:ext cx="8001000" cy="1143000"/>
            <a:chOff x="571500" y="3381375"/>
            <a:chExt cx="8001000" cy="1143000"/>
          </a:xfrm>
        </p:grpSpPr>
        <p:sp>
          <p:nvSpPr>
            <p:cNvPr id="313" name="Google Shape;313;p31"/>
            <p:cNvSpPr/>
            <p:nvPr/>
          </p:nvSpPr>
          <p:spPr>
            <a:xfrm>
              <a:off x="571500" y="3381375"/>
              <a:ext cx="8001000" cy="1143000"/>
            </a:xfrm>
            <a:prstGeom prst="roundRect">
              <a:avLst>
                <a:gd fmla="val 10000" name="adj"/>
              </a:avLst>
            </a:prstGeom>
            <a:solidFill>
              <a:srgbClr val="000000">
                <a:alpha val="30000"/>
              </a:srgbClr>
            </a:solidFill>
            <a:ln cap="flat" cmpd="sng" w="9525">
              <a:solidFill>
                <a:srgbClr val="F472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1"/>
            <p:cNvSpPr txBox="1"/>
            <p:nvPr/>
          </p:nvSpPr>
          <p:spPr>
            <a:xfrm>
              <a:off x="714375" y="3476625"/>
              <a:ext cx="7715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DOMAIN KNOWLEDGE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Synthetic Data Usefulness</a:t>
              </a:r>
              <a:endParaRPr b="1" sz="12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Incorporating segmentation masks significantly improves synthetic data utility, underscoring the importance of combining generative models with domain-specific information.</a:t>
              </a:r>
              <a:endParaRPr b="0" sz="97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15" name="Google Shape;315;p31"/>
          <p:cNvSpPr/>
          <p:nvPr/>
        </p:nvSpPr>
        <p:spPr>
          <a:xfrm>
            <a:off x="7429500" y="3619500"/>
            <a:ext cx="2286000" cy="2286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8096250" y="4286250"/>
            <a:ext cx="1524000" cy="1524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2"/>
          <p:cNvSpPr txBox="1"/>
          <p:nvPr/>
        </p:nvSpPr>
        <p:spPr>
          <a:xfrm>
            <a:off x="571500" y="3810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200">
                <a:solidFill>
                  <a:srgbClr val="FFFFFF"/>
                </a:solidFill>
                <a:latin typeface="Roboto ExtraBold"/>
                <a:ea typeface="Roboto ExtraBold"/>
                <a:cs typeface="Roboto ExtraBold"/>
                <a:sym typeface="Roboto ExtraBold"/>
              </a:rPr>
              <a:t>Conclusion: Project Outcomes</a:t>
            </a:r>
            <a:endParaRPr b="0" sz="3200">
              <a:solidFill>
                <a:srgbClr val="FFFFFF"/>
              </a:solidFill>
              <a:latin typeface="Roboto ExtraBold"/>
              <a:ea typeface="Roboto ExtraBold"/>
              <a:cs typeface="Roboto ExtraBold"/>
              <a:sym typeface="Roboto ExtraBold"/>
            </a:endParaRPr>
          </a:p>
        </p:txBody>
      </p:sp>
      <p:sp>
        <p:nvSpPr>
          <p:cNvPr id="322" name="Google Shape;322;p32"/>
          <p:cNvSpPr/>
          <p:nvPr/>
        </p:nvSpPr>
        <p:spPr>
          <a:xfrm>
            <a:off x="571500" y="1000125"/>
            <a:ext cx="952500" cy="381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2"/>
          <p:cNvSpPr txBox="1"/>
          <p:nvPr/>
        </p:nvSpPr>
        <p:spPr>
          <a:xfrm>
            <a:off x="571500" y="12382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rPr>
              <a:t>This project demonstrates that generative AI can be effectively integrated into medical image classification pipelines.</a:t>
            </a:r>
            <a:endParaRPr b="0" sz="1100">
              <a:solidFill>
                <a:srgbClr val="FCE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24" name="Google Shape;324;p32"/>
          <p:cNvGrpSpPr/>
          <p:nvPr/>
        </p:nvGrpSpPr>
        <p:grpSpPr>
          <a:xfrm>
            <a:off x="571500" y="1857375"/>
            <a:ext cx="3905400" cy="1333500"/>
            <a:chOff x="571500" y="1857375"/>
            <a:chExt cx="3905400" cy="1333500"/>
          </a:xfrm>
        </p:grpSpPr>
        <p:sp>
          <p:nvSpPr>
            <p:cNvPr id="325" name="Google Shape;325;p32"/>
            <p:cNvSpPr/>
            <p:nvPr/>
          </p:nvSpPr>
          <p:spPr>
            <a:xfrm>
              <a:off x="571500" y="1857375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2"/>
            <p:cNvSpPr txBox="1"/>
            <p:nvPr/>
          </p:nvSpPr>
          <p:spPr>
            <a:xfrm>
              <a:off x="714375" y="1952625"/>
              <a:ext cx="3619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PERFORMANCE GAINS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Augmentation &amp; Diversity</a:t>
              </a:r>
              <a:endParaRPr b="1" sz="12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While GAN-based augmentation improves data diversity and model performance, its impact is limited by the quality of generated images.</a:t>
              </a:r>
              <a:endParaRPr b="0" sz="97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27" name="Google Shape;327;p32"/>
          <p:cNvGrpSpPr/>
          <p:nvPr/>
        </p:nvGrpSpPr>
        <p:grpSpPr>
          <a:xfrm>
            <a:off x="4667250" y="1857375"/>
            <a:ext cx="3905400" cy="1333500"/>
            <a:chOff x="4667250" y="1857375"/>
            <a:chExt cx="3905400" cy="1333500"/>
          </a:xfrm>
        </p:grpSpPr>
        <p:sp>
          <p:nvSpPr>
            <p:cNvPr id="328" name="Google Shape;328;p32"/>
            <p:cNvSpPr/>
            <p:nvPr/>
          </p:nvSpPr>
          <p:spPr>
            <a:xfrm>
              <a:off x="4667250" y="1857375"/>
              <a:ext cx="3905400" cy="1333500"/>
            </a:xfrm>
            <a:prstGeom prst="roundRect">
              <a:avLst>
                <a:gd fmla="val 8571" name="adj"/>
              </a:avLst>
            </a:prstGeom>
            <a:solidFill>
              <a:srgbClr val="000000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2"/>
            <p:cNvSpPr txBox="1"/>
            <p:nvPr/>
          </p:nvSpPr>
          <p:spPr>
            <a:xfrm>
              <a:off x="4810125" y="1952625"/>
              <a:ext cx="3619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METHODOLOGY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Stability &amp; Guidance</a:t>
              </a:r>
              <a:endParaRPr b="1" sz="12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Advanced approaches like WGAN-GP and mask-aware GANs show improved results, indicating stability and domain guidance are crucial.</a:t>
              </a:r>
              <a:endParaRPr b="0" sz="97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30" name="Google Shape;330;p32"/>
          <p:cNvGrpSpPr/>
          <p:nvPr/>
        </p:nvGrpSpPr>
        <p:grpSpPr>
          <a:xfrm>
            <a:off x="571500" y="3381375"/>
            <a:ext cx="8001000" cy="1143000"/>
            <a:chOff x="571500" y="3381375"/>
            <a:chExt cx="8001000" cy="1143000"/>
          </a:xfrm>
        </p:grpSpPr>
        <p:sp>
          <p:nvSpPr>
            <p:cNvPr id="331" name="Google Shape;331;p32"/>
            <p:cNvSpPr/>
            <p:nvPr/>
          </p:nvSpPr>
          <p:spPr>
            <a:xfrm>
              <a:off x="571500" y="3381375"/>
              <a:ext cx="8001000" cy="1143000"/>
            </a:xfrm>
            <a:prstGeom prst="roundRect">
              <a:avLst>
                <a:gd fmla="val 10000" name="adj"/>
              </a:avLst>
            </a:prstGeom>
            <a:solidFill>
              <a:srgbClr val="000000">
                <a:alpha val="30000"/>
              </a:srgbClr>
            </a:solidFill>
            <a:ln cap="flat" cmpd="sng" w="9525">
              <a:solidFill>
                <a:srgbClr val="F472B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32"/>
            <p:cNvSpPr txBox="1"/>
            <p:nvPr/>
          </p:nvSpPr>
          <p:spPr>
            <a:xfrm>
              <a:off x="714375" y="3476625"/>
              <a:ext cx="7715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740">
                  <a:solidFill>
                    <a:srgbClr val="FBCFE8"/>
                  </a:solidFill>
                  <a:latin typeface="Roboto ExtraBold"/>
                  <a:ea typeface="Roboto ExtraBold"/>
                  <a:cs typeface="Roboto ExtraBold"/>
                  <a:sym typeface="Roboto ExtraBold"/>
                </a:rPr>
                <a:t>FINAL SUMMARY</a:t>
              </a:r>
              <a:endParaRPr b="0" sz="740">
                <a:solidFill>
                  <a:srgbClr val="FBCFE8"/>
                </a:solidFill>
                <a:latin typeface="Roboto ExtraBold"/>
                <a:ea typeface="Roboto ExtraBold"/>
                <a:cs typeface="Roboto ExtraBold"/>
                <a:sym typeface="Roboto ExtraBold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FBCFE8"/>
                  </a:solidFill>
                  <a:latin typeface="Roboto"/>
                  <a:ea typeface="Roboto"/>
                  <a:cs typeface="Roboto"/>
                  <a:sym typeface="Roboto"/>
                </a:rPr>
                <a:t>Overall Study Perspective</a:t>
              </a:r>
              <a:endParaRPr b="1" sz="1200">
                <a:solidFill>
                  <a:srgbClr val="FBCFE8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70">
                  <a:solidFill>
                    <a:srgbClr val="FCE7F3"/>
                  </a:solidFill>
                  <a:latin typeface="Roboto"/>
                  <a:ea typeface="Roboto"/>
                  <a:cs typeface="Roboto"/>
                  <a:sym typeface="Roboto"/>
                </a:rPr>
                <a:t>Overall, the study highlights both the potential and limitations of generative AI in medical imaging.</a:t>
              </a:r>
              <a:endParaRPr b="0" sz="970">
                <a:solidFill>
                  <a:srgbClr val="FCE7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33" name="Google Shape;333;p32"/>
          <p:cNvSpPr/>
          <p:nvPr/>
        </p:nvSpPr>
        <p:spPr>
          <a:xfrm>
            <a:off x="7429500" y="3619500"/>
            <a:ext cx="2286000" cy="2286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2"/>
          <p:cNvSpPr/>
          <p:nvPr/>
        </p:nvSpPr>
        <p:spPr>
          <a:xfrm>
            <a:off x="8096250" y="4286250"/>
            <a:ext cx="1524000" cy="1524000"/>
          </a:xfrm>
          <a:prstGeom prst="ellipse">
            <a:avLst/>
          </a:prstGeom>
          <a:solidFill>
            <a:srgbClr val="F472B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